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4" r:id="rId7"/>
    <p:sldId id="265" r:id="rId8"/>
    <p:sldId id="266" r:id="rId9"/>
    <p:sldId id="263" r:id="rId10"/>
  </p:sldIdLst>
  <p:sldSz cx="12192000" cy="6858000"/>
  <p:notesSz cx="6858000" cy="9144000"/>
  <p:defaultTextStyle>
    <a:defPPr>
      <a:defRPr lang="en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90"/>
    <p:restoredTop sz="94681"/>
  </p:normalViewPr>
  <p:slideViewPr>
    <p:cSldViewPr snapToGrid="0">
      <p:cViewPr varScale="1">
        <p:scale>
          <a:sx n="113" d="100"/>
          <a:sy n="113" d="100"/>
        </p:scale>
        <p:origin x="208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F39E1-6D28-E3FC-3BDB-E8342B09D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2BF646-A412-5282-D719-DFF57D12B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59069-952D-7982-959E-AAF07A005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85B9-578E-A84E-9AF7-547C2466E92A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5B8E3-266B-B917-0ECA-55F8BC6CF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CB58A-3BBF-0E17-FA33-FA17FE108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FCE29-65F9-5740-BCD3-E472690557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3123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6B7F4-926D-81A5-C6A7-ADAD4F6D1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A6B25-226E-6A0E-B7DC-DAC5DB2FD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81F4E-4B9F-CC12-B458-55AE8FE8D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85B9-578E-A84E-9AF7-547C2466E92A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C30D2-04A9-9754-AF3B-A0A832FDD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D997D-800D-9739-FA6A-3FB0D7E2E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FCE29-65F9-5740-BCD3-E472690557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6431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1F485-4F62-7877-8D88-24E892828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70D8CB-3AC3-BF57-55FC-56B6668DC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814C80-7B9C-AA48-8648-1E5257F1A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85B9-578E-A84E-9AF7-547C2466E92A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2BBFD-9B0B-46FA-AA35-5154D7121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C1850-4426-8C23-C9A7-1945439FB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FCE29-65F9-5740-BCD3-E472690557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8745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F64BD-E305-C29B-AB3C-BB12A2959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14397-6880-C68C-4CCF-7D305D7DCB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3B8048-1CFE-D269-DE6F-6C254CE140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04DB7F-2781-0FEA-BFC5-C3463EE31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85B9-578E-A84E-9AF7-547C2466E92A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9A6CC9-EC43-6DB1-9347-2D7E0C473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3C5C28-0FCE-6AFA-1718-3E9E3D553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FCE29-65F9-5740-BCD3-E472690557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3621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AC8AD-FF9C-B39C-703C-2BFB1DF2C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40225-6E2D-DE28-C064-3AFC9E8D6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8A0666-3691-DAFB-6617-444BAD7E70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1726F9-5CD0-E619-3FBC-726F9E883D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D231F1-48CA-E3F3-8E90-A032F7B0C7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6A5FAD-2001-7879-9867-05C5DF0E5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85B9-578E-A84E-9AF7-547C2466E92A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63C8F4-CFA4-E99D-2CB7-C2762DE0F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B491D9-E24E-4567-D05B-DD3966023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FCE29-65F9-5740-BCD3-E472690557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401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B3E07-F2F0-0B22-8F4E-62C2C412F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A21305-8D29-0D0B-64AE-08BDD5B62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85B9-578E-A84E-9AF7-547C2466E92A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76B037-261E-8CD0-22D5-6585704E4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021D58-BCD5-DFBC-EFD6-2192FB1FC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FCE29-65F9-5740-BCD3-E472690557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8422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2DC069-F8D4-1BE0-E8DB-F7E9462FD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85B9-578E-A84E-9AF7-547C2466E92A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2878B8-FC87-25EB-1329-CCD3A7F4A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F4DBC-D6D6-4DD4-B4FE-FB0BC3DE8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FCE29-65F9-5740-BCD3-E472690557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7249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E4CD2-82E8-63FD-7C1E-0A7A74E64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9A6DE-5F8F-167E-1DD6-297AF6AC1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5CE3F1-D71F-B00B-A651-B9286EDAB7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620346-3F18-9CA1-A50F-A3822B36D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85B9-578E-A84E-9AF7-547C2466E92A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EF4541-CDD0-FA45-C16A-9320A4AFE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BB44DF-C2E5-DABB-CB7C-281D9DDF1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FCE29-65F9-5740-BCD3-E472690557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7709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356A5-4767-1C58-AF60-D5273EAF1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BDCA2C-56F8-3B35-6BA6-EBB53C313D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FD3169-7935-84C6-BB6B-8BAEBFDB92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CF10BA-B52C-E4F7-35E8-4AB8F8C83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85B9-578E-A84E-9AF7-547C2466E92A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6C53A2-228C-6840-73A3-1D95822AE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1DC741-AAC8-8150-89AB-6EFF46EBC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FCE29-65F9-5740-BCD3-E472690557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9649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488F1-9BD4-4967-88B3-B4215E620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AB9BB0-5A6F-F20E-9D7D-A4A12C1BC5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F74E6-36D1-46F7-FEFA-4728EE106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85B9-578E-A84E-9AF7-547C2466E92A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165E3-0B7E-C6A2-2ED9-15AD9F7EC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FD1C6-2596-AFFA-A221-A1BE354F3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FCE29-65F9-5740-BCD3-E472690557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8548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C3DFDB-A164-988C-1555-679AB64437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4E7E24-F4E4-CF58-14D5-B979F1D644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FC5C3-0F86-E869-B9B4-07E3E297A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885B9-578E-A84E-9AF7-547C2466E92A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2FCB7-8A8A-0A8D-3712-680ECD763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D4CD8-3019-566A-A1C5-9730FD2D3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FCE29-65F9-5740-BCD3-E472690557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1484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9CA5EC-B16B-5C0F-430C-BE3253F27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54BFA0-A536-1017-BC34-9356DBCFB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AC93D-0FDB-457C-B0DD-0F9F09C9E9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D885B9-578E-A84E-9AF7-547C2466E92A}" type="datetimeFigureOut">
              <a:rPr lang="en-GB" smtClean="0"/>
              <a:t>04/11/2025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13054-628B-69D1-1CED-6BD6C1B0FB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C2332-FF22-6EAB-7CA0-C0E2CBC25A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DFCE29-65F9-5740-BCD3-E472690557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6665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B2B5C7-600E-D90C-E1C3-484C6DC31ED1}"/>
              </a:ext>
            </a:extLst>
          </p:cNvPr>
          <p:cNvSpPr txBox="1"/>
          <p:nvPr/>
        </p:nvSpPr>
        <p:spPr>
          <a:xfrm>
            <a:off x="3629619" y="801511"/>
            <a:ext cx="49327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b="1" dirty="0">
                <a:latin typeface="Avenir Book" panose="02000503020000020003" pitchFamily="2" charset="0"/>
              </a:rPr>
              <a:t>Practical 1 – wrap 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7992F6-57E1-02EF-1BE7-FB4723600944}"/>
              </a:ext>
            </a:extLst>
          </p:cNvPr>
          <p:cNvSpPr txBox="1"/>
          <p:nvPr/>
        </p:nvSpPr>
        <p:spPr>
          <a:xfrm>
            <a:off x="4076856" y="3075057"/>
            <a:ext cx="40382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b="1" dirty="0">
                <a:latin typeface="Avenir Book" panose="02000503020000020003" pitchFamily="2" charset="0"/>
              </a:rPr>
              <a:t>RepeatModeler2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07FC0A-69BF-BEEC-7B8F-60BE42D5747C}"/>
              </a:ext>
            </a:extLst>
          </p:cNvPr>
          <p:cNvSpPr txBox="1"/>
          <p:nvPr/>
        </p:nvSpPr>
        <p:spPr>
          <a:xfrm>
            <a:off x="1305071" y="4368800"/>
            <a:ext cx="9581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https://</a:t>
            </a:r>
            <a:r>
              <a:rPr lang="en-GB" dirty="0" err="1"/>
              <a:t>github.com</a:t>
            </a:r>
            <a:r>
              <a:rPr lang="en-GB" dirty="0"/>
              <a:t>/</a:t>
            </a:r>
            <a:r>
              <a:rPr lang="en-GB" dirty="0" err="1"/>
              <a:t>ValentinaPeona</a:t>
            </a:r>
            <a:r>
              <a:rPr lang="en-GB" dirty="0"/>
              <a:t>/PhysaliaTE2025/blob/main/</a:t>
            </a:r>
            <a:r>
              <a:rPr lang="en-GB" dirty="0" err="1"/>
              <a:t>Practicals</a:t>
            </a:r>
            <a:r>
              <a:rPr lang="en-GB" dirty="0"/>
              <a:t>/Practical1_part1.md</a:t>
            </a:r>
          </a:p>
        </p:txBody>
      </p:sp>
    </p:spTree>
    <p:extLst>
      <p:ext uri="{BB962C8B-B14F-4D97-AF65-F5344CB8AC3E}">
        <p14:creationId xmlns:p14="http://schemas.microsoft.com/office/powerpoint/2010/main" val="3120457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44F2A8-1137-25CD-3767-4E002C606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964" y="2113380"/>
            <a:ext cx="10600067" cy="15237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81E49E-26FC-79F7-BCFB-209C78889B5C}"/>
              </a:ext>
            </a:extLst>
          </p:cNvPr>
          <p:cNvSpPr txBox="1"/>
          <p:nvPr/>
        </p:nvSpPr>
        <p:spPr>
          <a:xfrm>
            <a:off x="4076856" y="536250"/>
            <a:ext cx="40382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b="1" dirty="0">
                <a:latin typeface="Avenir Book" panose="02000503020000020003" pitchFamily="2" charset="0"/>
              </a:rPr>
              <a:t>RepeatModeler2</a:t>
            </a:r>
          </a:p>
        </p:txBody>
      </p:sp>
    </p:spTree>
    <p:extLst>
      <p:ext uri="{BB962C8B-B14F-4D97-AF65-F5344CB8AC3E}">
        <p14:creationId xmlns:p14="http://schemas.microsoft.com/office/powerpoint/2010/main" val="1409331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769A58B-4CED-6FBB-4A55-842E21D12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968" y="1651705"/>
            <a:ext cx="10600064" cy="10182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BE02749-3880-2316-389B-BD99A48DB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967" y="2871039"/>
            <a:ext cx="2985811" cy="19244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09AB09-D6BB-450A-776F-11ACB33A7E15}"/>
              </a:ext>
            </a:extLst>
          </p:cNvPr>
          <p:cNvSpPr txBox="1"/>
          <p:nvPr/>
        </p:nvSpPr>
        <p:spPr>
          <a:xfrm>
            <a:off x="4076856" y="536250"/>
            <a:ext cx="40382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b="1" dirty="0">
                <a:latin typeface="Avenir Book" panose="02000503020000020003" pitchFamily="2" charset="0"/>
              </a:rPr>
              <a:t>RepeatModeler2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5BE28CBA-4B2D-EC62-A457-5D52022A31B4}"/>
              </a:ext>
            </a:extLst>
          </p:cNvPr>
          <p:cNvSpPr/>
          <p:nvPr/>
        </p:nvSpPr>
        <p:spPr>
          <a:xfrm>
            <a:off x="3928533" y="2871039"/>
            <a:ext cx="270934" cy="752694"/>
          </a:xfrm>
          <a:prstGeom prst="rightBrace">
            <a:avLst>
              <a:gd name="adj1" fmla="val 3750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DB656A-751D-1086-9C91-286D91DF508E}"/>
              </a:ext>
            </a:extLst>
          </p:cNvPr>
          <p:cNvSpPr txBox="1"/>
          <p:nvPr/>
        </p:nvSpPr>
        <p:spPr>
          <a:xfrm>
            <a:off x="4346222" y="3059668"/>
            <a:ext cx="3924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Fasta</a:t>
            </a:r>
            <a:r>
              <a:rPr lang="en-GB" dirty="0"/>
              <a:t> library of consensus sequences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C316C9A3-CE28-3CA7-0753-BB3952C16692}"/>
              </a:ext>
            </a:extLst>
          </p:cNvPr>
          <p:cNvSpPr/>
          <p:nvPr/>
        </p:nvSpPr>
        <p:spPr>
          <a:xfrm>
            <a:off x="3928533" y="3657599"/>
            <a:ext cx="270934" cy="752694"/>
          </a:xfrm>
          <a:prstGeom prst="rightBrace">
            <a:avLst>
              <a:gd name="adj1" fmla="val 3750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A9546A-C784-6F15-B0DB-A34A52312C49}"/>
              </a:ext>
            </a:extLst>
          </p:cNvPr>
          <p:cNvSpPr txBox="1"/>
          <p:nvPr/>
        </p:nvSpPr>
        <p:spPr>
          <a:xfrm>
            <a:off x="4346222" y="3715144"/>
            <a:ext cx="48034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Stockholm file of the TE families</a:t>
            </a:r>
          </a:p>
          <a:p>
            <a:r>
              <a:rPr lang="en-GB" dirty="0"/>
              <a:t>Aligned sequences to be used as HMM profiles</a:t>
            </a:r>
          </a:p>
        </p:txBody>
      </p:sp>
    </p:spTree>
    <p:extLst>
      <p:ext uri="{BB962C8B-B14F-4D97-AF65-F5344CB8AC3E}">
        <p14:creationId xmlns:p14="http://schemas.microsoft.com/office/powerpoint/2010/main" val="1399699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CD696F-FF45-6BAA-946B-CB7A15BF2CDE}"/>
              </a:ext>
            </a:extLst>
          </p:cNvPr>
          <p:cNvSpPr txBox="1"/>
          <p:nvPr/>
        </p:nvSpPr>
        <p:spPr>
          <a:xfrm>
            <a:off x="0" y="872491"/>
            <a:ext cx="5599289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&gt;rnd-1_family-7#Unknown (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RepeatScout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Family Size = 601, Final Multiple Alignment Size = 100, Localized to 139 out of 149 contigs )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AAATGGGAGCTGGGCAAACAAAACGTACAAGATCGTTATCTCAAGTGGCG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CACGTTTTCATTGTTATTGGCTGGAAGNGTGCGCCACTCGAGATAACGAT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CTTGTACGTTTTGTTTGCCCAGCTC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854150-8BD9-465D-6B7A-9F94BC7730B7}"/>
              </a:ext>
            </a:extLst>
          </p:cNvPr>
          <p:cNvSpPr txBox="1"/>
          <p:nvPr/>
        </p:nvSpPr>
        <p:spPr>
          <a:xfrm>
            <a:off x="5870223" y="872491"/>
            <a:ext cx="60960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STOCKHOLM 1.0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#=GF ID    rnd-1_family-7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#=GF DE   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RepeatModeler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Generated - rnd-1_family-7,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RepeatScout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: [ Index = R=86, RS Size = 601, Refiner Input Size = 100, Final Multiple Alignment Size = 100 ]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#=GF TP   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Interspersed_Repeat;Unknown</a:t>
            </a:r>
            <a:endParaRPr lang="en-GB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#=GF CC   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refLength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=261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refName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=family-7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#=GF BM   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RepeatModeler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MultAln</a:t>
            </a:r>
            <a:endParaRPr lang="en-GB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#=GF SQ    100</a:t>
            </a: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#=GC RF    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xxxxxxxx.xxxx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....x......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xx.xxxxx.xx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....x.......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x.x.xx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.....x.....xxx....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xxxx.x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...x...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x.xxxx.x.x.xxx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.......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xxxxx.xx.x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..................xxx...xxxx.xxx.xx.x.xx.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xxxxxx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x..xxxxxxxx.x..xx.x..xxx..x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..........x..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xxx.xx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........xxx..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xxxxxx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....x.......xxxx.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xxxxxx</a:t>
            </a:r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..</a:t>
            </a:r>
            <a:r>
              <a:rPr lang="en-GB" sz="1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xx.xxxx</a:t>
            </a:r>
            <a:endParaRPr lang="en-GB" sz="16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GB" sz="16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BDGG01000003.1:3811508-3811391    ....GGGA.GCTG....G..........AACA.AA....A.......C.G.TA.....C.....AAG....ACCG.C...A...A.TTTC.G.A.GTG.......GCGCA.CG.C..................TCC...CGAA.GTC.AC.T.AG.CTGGGA..A..GGTGCGCC.A..TG.C..AAG..A..........C..AAC.GA........TCT..TGTACG....T.......TCTG.TTCGTC..CA.GCTC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CC50AB-1E87-9AD5-2364-A1D2BFBA3E7E}"/>
              </a:ext>
            </a:extLst>
          </p:cNvPr>
          <p:cNvSpPr txBox="1"/>
          <p:nvPr/>
        </p:nvSpPr>
        <p:spPr>
          <a:xfrm>
            <a:off x="2431723" y="316089"/>
            <a:ext cx="755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 err="1"/>
              <a:t>Fasta</a:t>
            </a:r>
            <a:endParaRPr lang="en-GB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AE012-A5B2-7C9D-CD42-9818BF6B3708}"/>
              </a:ext>
            </a:extLst>
          </p:cNvPr>
          <p:cNvSpPr txBox="1"/>
          <p:nvPr/>
        </p:nvSpPr>
        <p:spPr>
          <a:xfrm>
            <a:off x="8288659" y="316089"/>
            <a:ext cx="1326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Stockholm</a:t>
            </a:r>
          </a:p>
        </p:txBody>
      </p:sp>
    </p:spTree>
    <p:extLst>
      <p:ext uri="{BB962C8B-B14F-4D97-AF65-F5344CB8AC3E}">
        <p14:creationId xmlns:p14="http://schemas.microsoft.com/office/powerpoint/2010/main" val="2610953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FA7BCC-DF13-A303-182F-E7182A395055}"/>
              </a:ext>
            </a:extLst>
          </p:cNvPr>
          <p:cNvSpPr txBox="1"/>
          <p:nvPr/>
        </p:nvSpPr>
        <p:spPr>
          <a:xfrm>
            <a:off x="0" y="1722314"/>
            <a:ext cx="121919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6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run RepeatMasker with </a:t>
            </a:r>
            <a:r>
              <a:rPr lang="en-GB" dirty="0" err="1">
                <a:solidFill>
                  <a:schemeClr val="accent6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uncurated</a:t>
            </a:r>
            <a:r>
              <a:rPr lang="en-GB" dirty="0">
                <a:solidFill>
                  <a:schemeClr val="accent6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ramVar_rm1.0.fasta library</a:t>
            </a:r>
          </a:p>
          <a:p>
            <a:r>
              <a:rPr lang="en-GB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RepeatMasker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-pa 1 -a -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xsmall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-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gccalc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-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excln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-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gff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-s -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dir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RMSK/ramVar_rm1.0 -lib Data/ramVar_rm1.0.fasta Data/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ramVar.fasta</a:t>
            </a:r>
            <a:endParaRPr lang="en-GB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E5D8F9-64A5-B6D9-8A3F-D6EBFE20DF0D}"/>
              </a:ext>
            </a:extLst>
          </p:cNvPr>
          <p:cNvSpPr txBox="1"/>
          <p:nvPr/>
        </p:nvSpPr>
        <p:spPr>
          <a:xfrm>
            <a:off x="4366198" y="536250"/>
            <a:ext cx="34596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b="1" dirty="0">
                <a:latin typeface="Avenir Book" panose="02000503020000020003" pitchFamily="2" charset="0"/>
              </a:rPr>
              <a:t>RepeatMasker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8A77F1-62EA-1A43-5907-BD1302305B33}"/>
              </a:ext>
            </a:extLst>
          </p:cNvPr>
          <p:cNvSpPr txBox="1"/>
          <p:nvPr/>
        </p:nvSpPr>
        <p:spPr>
          <a:xfrm>
            <a:off x="4887975" y="4212357"/>
            <a:ext cx="24160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ramVar.fasta.out</a:t>
            </a:r>
            <a:endParaRPr lang="en-GB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algn="ctr"/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ramVar.fasta.gff</a:t>
            </a:r>
            <a:endParaRPr lang="en-GB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algn="ctr"/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ramVar.fasta.tbl</a:t>
            </a:r>
            <a:endParaRPr lang="en-GB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75E440-395A-E0F8-1262-34201A93DF98}"/>
              </a:ext>
            </a:extLst>
          </p:cNvPr>
          <p:cNvSpPr txBox="1"/>
          <p:nvPr/>
        </p:nvSpPr>
        <p:spPr>
          <a:xfrm>
            <a:off x="5634975" y="3843025"/>
            <a:ext cx="922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174789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7232B7-4F81-9806-F397-820DF2E42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3508" y="0"/>
            <a:ext cx="37649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690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B40502F-6303-5584-CF7A-9AE90A38F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544" y="1422493"/>
            <a:ext cx="9462911" cy="40130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5733CCD-860A-8904-2E2F-6DB5655A51C3}"/>
              </a:ext>
            </a:extLst>
          </p:cNvPr>
          <p:cNvSpPr txBox="1"/>
          <p:nvPr/>
        </p:nvSpPr>
        <p:spPr>
          <a:xfrm>
            <a:off x="4366198" y="536250"/>
            <a:ext cx="34596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b="1" dirty="0">
                <a:latin typeface="Avenir Book" panose="02000503020000020003" pitchFamily="2" charset="0"/>
              </a:rPr>
              <a:t>RepeatMasker</a:t>
            </a:r>
          </a:p>
        </p:txBody>
      </p:sp>
    </p:spTree>
    <p:extLst>
      <p:ext uri="{BB962C8B-B14F-4D97-AF65-F5344CB8AC3E}">
        <p14:creationId xmlns:p14="http://schemas.microsoft.com/office/powerpoint/2010/main" val="2749875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A60572-6D33-B2B0-F8C5-36BBC47E7AAF}"/>
              </a:ext>
            </a:extLst>
          </p:cNvPr>
          <p:cNvSpPr txBox="1"/>
          <p:nvPr/>
        </p:nvSpPr>
        <p:spPr>
          <a:xfrm>
            <a:off x="-2" y="2274838"/>
            <a:ext cx="1219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accent6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Calculate the divergence with Kimura 2-parameter distances (excluding CpG sites)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singularity exec ~/Share/TE25/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dfam-tetools-latest.sif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calcDivergenceFromAlign.pl</a:t>
            </a:r>
            <a:r>
              <a:rPr lang="en-GB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-s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ramVar.fasta.align.divsum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-a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ramVar.fasta.align_with_div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ramVar.fasta.align</a:t>
            </a:r>
            <a:endParaRPr lang="en-GB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endParaRPr lang="en-GB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GB" dirty="0">
                <a:solidFill>
                  <a:schemeClr val="accent6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Create a repeat landscape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SIZE=`grep -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'total length'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ramVar.fasta.tbl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| tr -s ' ' | cut -f 3 -d ' '`</a:t>
            </a:r>
          </a:p>
          <a:p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singularity exec ~/Share/TE25/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dfam-tetools-latest.sif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b="1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createRepeatLandscape.pl</a:t>
            </a:r>
            <a:r>
              <a:rPr lang="en-GB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-div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ramVar.fasta.align.divsum</a:t>
            </a:r>
            <a:r>
              <a:rPr lang="en-GB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-g $SIZE &gt; </a:t>
            </a:r>
            <a:r>
              <a:rPr lang="en-GB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ramVar.fasta.align.divsum.html</a:t>
            </a:r>
            <a:endParaRPr lang="en-GB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C354DC-DC59-29A7-127A-CEEF876CDA48}"/>
              </a:ext>
            </a:extLst>
          </p:cNvPr>
          <p:cNvSpPr txBox="1"/>
          <p:nvPr/>
        </p:nvSpPr>
        <p:spPr>
          <a:xfrm>
            <a:off x="4366198" y="536250"/>
            <a:ext cx="34596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b="1" dirty="0">
                <a:latin typeface="Avenir Book" panose="02000503020000020003" pitchFamily="2" charset="0"/>
              </a:rPr>
              <a:t>RepeatMasker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444F41-2593-1766-2047-7CEAB230F31E}"/>
              </a:ext>
            </a:extLst>
          </p:cNvPr>
          <p:cNvSpPr txBox="1"/>
          <p:nvPr/>
        </p:nvSpPr>
        <p:spPr>
          <a:xfrm>
            <a:off x="420875" y="5256920"/>
            <a:ext cx="113502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venir Book" panose="02000503020000020003" pitchFamily="2" charset="0"/>
              </a:rPr>
              <a:t>The </a:t>
            </a:r>
            <a:r>
              <a:rPr lang="en-GB" dirty="0" err="1">
                <a:latin typeface="Avenir Book" panose="02000503020000020003" pitchFamily="2" charset="0"/>
                <a:ea typeface="Menlo" panose="020B0609030804020204" pitchFamily="49" charset="0"/>
                <a:cs typeface="Menlo" panose="020B0609030804020204" pitchFamily="49" charset="0"/>
              </a:rPr>
              <a:t>createRepeatLandscape.pl</a:t>
            </a:r>
            <a:r>
              <a:rPr lang="en-GB" dirty="0">
                <a:latin typeface="Avenir Book" panose="02000503020000020003" pitchFamily="2" charset="0"/>
                <a:ea typeface="Menlo" panose="020B0609030804020204" pitchFamily="49" charset="0"/>
                <a:cs typeface="Menlo" panose="020B0609030804020204" pitchFamily="49" charset="0"/>
              </a:rPr>
              <a:t> is a good start, easy to run but has its limitations (you should have got some warnings!)</a:t>
            </a:r>
          </a:p>
          <a:p>
            <a:r>
              <a:rPr lang="en-GB" dirty="0">
                <a:latin typeface="Avenir Book" panose="02000503020000020003" pitchFamily="2" charset="0"/>
                <a:ea typeface="Menlo" panose="020B0609030804020204" pitchFamily="49" charset="0"/>
                <a:cs typeface="Menlo" panose="020B0609030804020204" pitchFamily="49" charset="0"/>
              </a:rPr>
              <a:t>Good to plot your own landscapes</a:t>
            </a:r>
            <a:endParaRPr lang="en-GB" dirty="0"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152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EFA88FD-BD1A-370B-1140-4C077DEF06BF}"/>
              </a:ext>
            </a:extLst>
          </p:cNvPr>
          <p:cNvSpPr txBox="1"/>
          <p:nvPr/>
        </p:nvSpPr>
        <p:spPr>
          <a:xfrm>
            <a:off x="4366198" y="536250"/>
            <a:ext cx="34596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000" b="1" dirty="0">
                <a:latin typeface="Avenir Book" panose="02000503020000020003" pitchFamily="2" charset="0"/>
              </a:rPr>
              <a:t>RepeatMasker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B499864-6397-2D37-7C1F-1F24CD0E70E1}"/>
              </a:ext>
            </a:extLst>
          </p:cNvPr>
          <p:cNvGrpSpPr/>
          <p:nvPr/>
        </p:nvGrpSpPr>
        <p:grpSpPr>
          <a:xfrm>
            <a:off x="0" y="2076040"/>
            <a:ext cx="12192000" cy="2959914"/>
            <a:chOff x="0" y="1556749"/>
            <a:chExt cx="12192000" cy="295991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3A87585D-FF2C-B5F3-BB5E-EA8FE41AA9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68622" y="2047833"/>
              <a:ext cx="6423378" cy="246883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ED10B8D-AF87-6F9A-B4AF-E30CAE948F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2173661"/>
              <a:ext cx="6096000" cy="234300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DBD3AB2-D849-6CF3-2201-8A62A1AC2E78}"/>
                </a:ext>
              </a:extLst>
            </p:cNvPr>
            <p:cNvSpPr txBox="1"/>
            <p:nvPr/>
          </p:nvSpPr>
          <p:spPr>
            <a:xfrm>
              <a:off x="1843984" y="1556749"/>
              <a:ext cx="24080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Completely </a:t>
              </a:r>
              <a:r>
                <a:rPr lang="en-GB" dirty="0" err="1"/>
                <a:t>uncurated</a:t>
              </a:r>
              <a:endParaRPr lang="en-GB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4C0E345-014A-5E0E-8246-C6FF808BF36F}"/>
                </a:ext>
              </a:extLst>
            </p:cNvPr>
            <p:cNvSpPr txBox="1"/>
            <p:nvPr/>
          </p:nvSpPr>
          <p:spPr>
            <a:xfrm>
              <a:off x="7776295" y="1556749"/>
              <a:ext cx="18003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Partially curated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9758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565</Words>
  <Application>Microsoft Macintosh PowerPoint</Application>
  <PresentationFormat>Widescreen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Avenir Book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Valentina Peona</dc:creator>
  <cp:lastModifiedBy>Valentina Peona</cp:lastModifiedBy>
  <cp:revision>22</cp:revision>
  <dcterms:created xsi:type="dcterms:W3CDTF">2025-11-04T06:33:27Z</dcterms:created>
  <dcterms:modified xsi:type="dcterms:W3CDTF">2025-11-04T07:04:20Z</dcterms:modified>
</cp:coreProperties>
</file>