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3" d="100"/>
          <a:sy n="113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6D75-7583-EFF2-69D3-41CC6CF19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B652-85D4-37D6-F78D-AA86950E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0F58-EEFE-5D9F-9A58-085D3B3C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3A5B2-4E21-BFF9-59C1-32FA9614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EC868-2EB5-20E3-49B0-9003630D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11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6B24-4AED-43FD-E070-F014186F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C5D2F-83E6-2132-174E-CCDDD4EF4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F0454-9100-D257-5B5E-76608A79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91EC1-8F1A-0FF3-EB7C-26C8ED59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8ABD3-0A4F-0C7F-9FB6-644A09C7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78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3BC2-98B6-0C50-A7F0-9044BCAD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52E5F-5433-6F28-84DA-7F9958365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9AE14-9DDE-9C4D-69C4-E4630B5B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1AAA1-EDD5-BD65-9FA8-6CA04C06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44705-440C-F813-E2E2-AEDD59BA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18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637C-3798-1367-0878-51038A91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0483D-D46F-366A-E52C-32529861C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154D5-EA63-91F6-9B4F-B7F674747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1F03E-B48C-5D78-F659-E489E9D8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5ACE7-7255-0D56-7F93-D17C881E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1A275-D18A-381D-6C29-F8187555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68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E01F-D952-49C2-C17E-B82B7F71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DEF7C-31D3-DEF1-459C-51C2B9288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5D7CF-73E8-33E7-73F6-C0EA57D8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A9419-C8B3-09B5-99EC-386963C85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01ECD-4E2F-F370-714F-80F6B9677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7F210-F2C0-49E6-595F-B852E88A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90FF23-DFDB-A707-5298-489B87FC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3C5621-AE59-4EA1-C484-B77FCD02F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56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5F79-2F86-1442-B386-BD3963F5A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DC28D-BDE7-95D0-0B5C-2BB4A374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5AE98-102E-832D-32BF-2B4056D1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768B8-1D14-602B-DB75-FF35ABC1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86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5E7F7-E4ED-D8BB-6E45-C4E1B116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BF6C3-819E-3BF9-B422-0E91CEFC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17EA5-4C5A-8B7F-37E6-EE781327C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07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94E8-CA26-BC6C-864A-8855FC2A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A8B5-7414-2BC1-5A16-2C4AC3907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E967D-6899-4065-8FC7-1B7176AA2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D4B8D-7DEE-0612-FB08-00EB2298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6A644-0721-2284-E338-7895C242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4E069-80F7-3324-1E62-EEB2CF15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80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6692F-3606-026D-3C42-3BB06C2F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0EF5CA-9017-1227-43A8-F3D51B165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74CE5-E9A5-CB32-EA8B-24B2F16EA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F64B3-B5DF-3E23-08F5-FB515D42A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141A4-D815-0749-1BB0-6C3FFC5C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8F48D-EAA9-CD02-24CC-8DFB5BC6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4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ACAB-F379-EF5D-84A0-311C47CB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C00F1-2591-E06E-EC3B-9CE84C5F7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95DA6-36E8-80EE-6600-E71E5895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2BECB-259F-4D32-5E72-41D52E86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9224-080F-8279-8A9F-948AD770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08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CBD54-1AE5-FE04-C0F7-3292CFC2D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8AAE5-AE6D-E242-AD2D-BA0CACC94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B4B7-0CC4-2A28-265F-131B569E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2939-D3C8-678B-BCF0-61BA2639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84B83-CF63-9165-DAA6-6486AA14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4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2E991-BAFC-FE34-968E-90127D21F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1C52-F155-8A49-E9B0-6C4A80A16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E518A-A887-E0D0-E04C-8F4320376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50954-A476-9CFA-BFA2-DEEF80CBA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59A55-C221-F74C-5339-FB130AB46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17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B8749-37A4-C388-5700-E24200270088}"/>
              </a:ext>
            </a:extLst>
          </p:cNvPr>
          <p:cNvSpPr txBox="1"/>
          <p:nvPr/>
        </p:nvSpPr>
        <p:spPr>
          <a:xfrm>
            <a:off x="3975675" y="304800"/>
            <a:ext cx="4240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TE diversity recap</a:t>
            </a:r>
          </a:p>
        </p:txBody>
      </p:sp>
      <p:grpSp>
        <p:nvGrpSpPr>
          <p:cNvPr id="4" name="Google Shape;119;p2">
            <a:extLst>
              <a:ext uri="{FF2B5EF4-FFF2-40B4-BE49-F238E27FC236}">
                <a16:creationId xmlns:a16="http://schemas.microsoft.com/office/drawing/2014/main" id="{64438745-F84C-7424-D885-1CCD60A6C63D}"/>
              </a:ext>
            </a:extLst>
          </p:cNvPr>
          <p:cNvGrpSpPr/>
          <p:nvPr/>
        </p:nvGrpSpPr>
        <p:grpSpPr>
          <a:xfrm>
            <a:off x="586034" y="1535840"/>
            <a:ext cx="3208021" cy="4411980"/>
            <a:chOff x="8412479" y="1630680"/>
            <a:chExt cx="3208021" cy="4411980"/>
          </a:xfrm>
        </p:grpSpPr>
        <p:sp>
          <p:nvSpPr>
            <p:cNvPr id="5" name="Google Shape;120;p2">
              <a:extLst>
                <a:ext uri="{FF2B5EF4-FFF2-40B4-BE49-F238E27FC236}">
                  <a16:creationId xmlns:a16="http://schemas.microsoft.com/office/drawing/2014/main" id="{0B3BD25F-23F2-B520-FDDA-AB465A324534}"/>
                </a:ext>
              </a:extLst>
            </p:cNvPr>
            <p:cNvSpPr/>
            <p:nvPr/>
          </p:nvSpPr>
          <p:spPr>
            <a:xfrm>
              <a:off x="8412480" y="1630680"/>
              <a:ext cx="3208020" cy="4411980"/>
            </a:xfrm>
            <a:prstGeom prst="rect">
              <a:avLst/>
            </a:prstGeom>
            <a:solidFill>
              <a:srgbClr val="9CC2E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1;p2">
              <a:extLst>
                <a:ext uri="{FF2B5EF4-FFF2-40B4-BE49-F238E27FC236}">
                  <a16:creationId xmlns:a16="http://schemas.microsoft.com/office/drawing/2014/main" id="{97447D50-A83F-46AB-A793-3CF30BD183AB}"/>
                </a:ext>
              </a:extLst>
            </p:cNvPr>
            <p:cNvSpPr txBox="1"/>
            <p:nvPr/>
          </p:nvSpPr>
          <p:spPr>
            <a:xfrm>
              <a:off x="8412479" y="2065020"/>
              <a:ext cx="3208021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 sz="2800" b="1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 FIELD GUIDE TO THE TEs OF THE WORLD</a:t>
              </a:r>
              <a:endParaRPr sz="28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7" name="Google Shape;122;p2" descr="Image">
              <a:extLst>
                <a:ext uri="{FF2B5EF4-FFF2-40B4-BE49-F238E27FC236}">
                  <a16:creationId xmlns:a16="http://schemas.microsoft.com/office/drawing/2014/main" id="{4049A255-0835-11EF-CFC2-81FC79F0FBB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092694" y="3641846"/>
              <a:ext cx="1847592" cy="18475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Image 5">
            <a:extLst>
              <a:ext uri="{FF2B5EF4-FFF2-40B4-BE49-F238E27FC236}">
                <a16:creationId xmlns:a16="http://schemas.microsoft.com/office/drawing/2014/main" id="{FE890348-62E5-CC64-3D32-62F7ADC8D6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3189" y="1658593"/>
            <a:ext cx="7566259" cy="42892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60A8D81-2143-1F0E-A965-FC187A7C9177}"/>
              </a:ext>
            </a:extLst>
          </p:cNvPr>
          <p:cNvSpPr/>
          <p:nvPr/>
        </p:nvSpPr>
        <p:spPr>
          <a:xfrm>
            <a:off x="8523111" y="6334972"/>
            <a:ext cx="3668889" cy="523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>
              <a:buClr>
                <a:srgbClr val="000000"/>
              </a:buClr>
            </a:pP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Miriam </a:t>
            </a:r>
            <a:r>
              <a:rPr lang="fr-FR" sz="933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Merenciano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, Anaïs Larue, Cristian </a:t>
            </a:r>
            <a:r>
              <a:rPr lang="fr-FR" sz="933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Groza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, Cristina Vieira, </a:t>
            </a:r>
            <a:r>
              <a:rPr lang="fr-FR" sz="933" b="1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Rita Rebollo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, Clément Goubert (2024). </a:t>
            </a:r>
            <a:r>
              <a:rPr lang="fr-FR" sz="933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Epigenetics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 and </a:t>
            </a:r>
            <a:r>
              <a:rPr lang="fr-FR" sz="933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genotypic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 variation. In : </a:t>
            </a:r>
            <a:r>
              <a:rPr lang="fr-FR" sz="933" i="1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On </a:t>
            </a:r>
            <a:r>
              <a:rPr lang="fr-FR" sz="933" i="1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Epigenetics</a:t>
            </a:r>
            <a:r>
              <a:rPr lang="fr-FR" sz="933" i="1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 and Evolution. 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Elsevier, 119-151</a:t>
            </a:r>
          </a:p>
        </p:txBody>
      </p:sp>
    </p:spTree>
    <p:extLst>
      <p:ext uri="{BB962C8B-B14F-4D97-AF65-F5344CB8AC3E}">
        <p14:creationId xmlns:p14="http://schemas.microsoft.com/office/powerpoint/2010/main" val="172853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7;p37">
            <a:extLst>
              <a:ext uri="{FF2B5EF4-FFF2-40B4-BE49-F238E27FC236}">
                <a16:creationId xmlns:a16="http://schemas.microsoft.com/office/drawing/2014/main" id="{C35A2516-E31F-2131-18A9-72E7C76F0626}"/>
              </a:ext>
            </a:extLst>
          </p:cNvPr>
          <p:cNvSpPr txBox="1"/>
          <p:nvPr/>
        </p:nvSpPr>
        <p:spPr>
          <a:xfrm>
            <a:off x="0" y="0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How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do LINE/SINE/LTR/DNA (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retro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transposons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get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transcribed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replicated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and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integrated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?</a:t>
            </a:r>
            <a:endParaRPr sz="2000" b="1" i="0" u="none" strike="noStrik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9075E6-EEB0-87C1-7D60-AEAD55BE1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956077"/>
              </p:ext>
            </p:extLst>
          </p:nvPr>
        </p:nvGraphicFramePr>
        <p:xfrm>
          <a:off x="248355" y="770769"/>
          <a:ext cx="11695290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112">
                  <a:extLst>
                    <a:ext uri="{9D8B030D-6E8A-4147-A177-3AD203B41FA5}">
                      <a16:colId xmlns:a16="http://schemas.microsoft.com/office/drawing/2014/main" val="4287735734"/>
                    </a:ext>
                  </a:extLst>
                </a:gridCol>
                <a:gridCol w="2251004">
                  <a:extLst>
                    <a:ext uri="{9D8B030D-6E8A-4147-A177-3AD203B41FA5}">
                      <a16:colId xmlns:a16="http://schemas.microsoft.com/office/drawing/2014/main" val="3387907443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892250006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4110076431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3356348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LTR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DNA (TIR)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0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501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Structural features (e.g., internal repeats, ORFs)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7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22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Replication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Integration enzyme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63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Mobilization in cis/trans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95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Increase in copy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7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Presence of introns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63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13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7;p37">
            <a:extLst>
              <a:ext uri="{FF2B5EF4-FFF2-40B4-BE49-F238E27FC236}">
                <a16:creationId xmlns:a16="http://schemas.microsoft.com/office/drawing/2014/main" id="{D00BFBBD-400A-3DD5-CA3C-EF373A141C4A}"/>
              </a:ext>
            </a:extLst>
          </p:cNvPr>
          <p:cNvSpPr txBox="1"/>
          <p:nvPr/>
        </p:nvSpPr>
        <p:spPr>
          <a:xfrm>
            <a:off x="0" y="0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Where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do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these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TEs jump,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what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happens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new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insertion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site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and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what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happens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new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insertion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?</a:t>
            </a:r>
            <a:endParaRPr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6F111E-DBFF-C40D-73EC-15B28DF55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69423"/>
              </p:ext>
            </p:extLst>
          </p:nvPr>
        </p:nvGraphicFramePr>
        <p:xfrm>
          <a:off x="248355" y="770769"/>
          <a:ext cx="11695290" cy="459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112">
                  <a:extLst>
                    <a:ext uri="{9D8B030D-6E8A-4147-A177-3AD203B41FA5}">
                      <a16:colId xmlns:a16="http://schemas.microsoft.com/office/drawing/2014/main" val="4287735734"/>
                    </a:ext>
                  </a:extLst>
                </a:gridCol>
                <a:gridCol w="2251004">
                  <a:extLst>
                    <a:ext uri="{9D8B030D-6E8A-4147-A177-3AD203B41FA5}">
                      <a16:colId xmlns:a16="http://schemas.microsoft.com/office/drawing/2014/main" val="3387907443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892250006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4110076431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3356348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LTR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DNA (TIR)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0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501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Structural features (e.g., internal repeats</a:t>
                      </a:r>
                      <a:r>
                        <a:rPr lang="en-GB" sz="1400">
                          <a:latin typeface="Avenir Book" panose="02000503020000020003" pitchFamily="2" charset="0"/>
                        </a:rPr>
                        <a:t>, ORFs)</a:t>
                      </a: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508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7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Replication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Integration enzyme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63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Mobilization in cis/trans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95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Increase in copy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7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Presence of introns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638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Target site preferentiality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018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Target site 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39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State of the new insertion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032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31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6C3C36-8605-BA20-1E87-0BB1D4AB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00" y="44450"/>
            <a:ext cx="5511800" cy="6769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C7C2EE-50BE-8C73-62D3-0190AB257CEE}"/>
              </a:ext>
            </a:extLst>
          </p:cNvPr>
          <p:cNvSpPr txBox="1"/>
          <p:nvPr/>
        </p:nvSpPr>
        <p:spPr>
          <a:xfrm>
            <a:off x="10307253" y="6488668"/>
            <a:ext cx="188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Wicker et al 2007</a:t>
            </a:r>
          </a:p>
        </p:txBody>
      </p:sp>
    </p:spTree>
    <p:extLst>
      <p:ext uri="{BB962C8B-B14F-4D97-AF65-F5344CB8AC3E}">
        <p14:creationId xmlns:p14="http://schemas.microsoft.com/office/powerpoint/2010/main" val="394427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E595B4-47C8-6446-AF5F-77D2AFC3F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14" y="364067"/>
            <a:ext cx="9487771" cy="61298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210FC-726D-4869-B54B-1FE3E85F275A}"/>
              </a:ext>
            </a:extLst>
          </p:cNvPr>
          <p:cNvSpPr txBox="1"/>
          <p:nvPr/>
        </p:nvSpPr>
        <p:spPr>
          <a:xfrm>
            <a:off x="9210030" y="6488668"/>
            <a:ext cx="2981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Feschotte</a:t>
            </a:r>
            <a:r>
              <a:rPr lang="en-GB" dirty="0"/>
              <a:t> and Pritham 2007</a:t>
            </a:r>
          </a:p>
        </p:txBody>
      </p:sp>
    </p:spTree>
    <p:extLst>
      <p:ext uri="{BB962C8B-B14F-4D97-AF65-F5344CB8AC3E}">
        <p14:creationId xmlns:p14="http://schemas.microsoft.com/office/powerpoint/2010/main" val="187053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185</Words>
  <Application>Microsoft Macintosh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Avenir</vt:lpstr>
      <vt:lpstr>Avenir Book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Peona</dc:creator>
  <cp:lastModifiedBy>Valentina Peona</cp:lastModifiedBy>
  <cp:revision>24</cp:revision>
  <dcterms:created xsi:type="dcterms:W3CDTF">2025-11-04T08:03:45Z</dcterms:created>
  <dcterms:modified xsi:type="dcterms:W3CDTF">2025-11-04T08:40:11Z</dcterms:modified>
</cp:coreProperties>
</file>